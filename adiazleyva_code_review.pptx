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 autoCompressPictures="0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61" r:id="rId4"/>
    <p:sldId id="274" r:id="rId5"/>
    <p:sldId id="276" r:id="rId6"/>
    <p:sldId id="277" r:id="rId7"/>
    <p:sldId id="286" r:id="rId8"/>
    <p:sldId id="279" r:id="rId9"/>
    <p:sldId id="287" r:id="rId10"/>
    <p:sldId id="270" r:id="rId11"/>
    <p:sldId id="280" r:id="rId12"/>
    <p:sldId id="281" r:id="rId13"/>
    <p:sldId id="288" r:id="rId14"/>
    <p:sldId id="282" r:id="rId15"/>
    <p:sldId id="273" r:id="rId16"/>
    <p:sldId id="271" r:id="rId17"/>
    <p:sldId id="283" r:id="rId18"/>
    <p:sldId id="284" r:id="rId19"/>
    <p:sldId id="289" r:id="rId20"/>
    <p:sldId id="285" r:id="rId21"/>
    <p:sldId id="260" r:id="rId22"/>
    <p:sldId id="290" r:id="rId23"/>
    <p:sldId id="259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89611" autoAdjust="0"/>
  </p:normalViewPr>
  <p:slideViewPr>
    <p:cSldViewPr snapToGrid="0">
      <p:cViewPr varScale="1">
        <p:scale>
          <a:sx n="188" d="100"/>
          <a:sy n="188" d="100"/>
        </p:scale>
        <p:origin x="2004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6B91FD-2173-10F9-ECA2-C68A188465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A2806-FCBC-530F-1378-BED0C24614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78B-7102-9A40-BA81-DB3B32D3315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487F6-AC1F-D831-042F-A818FFF78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71A42-61FD-F29B-975C-A5F119D89B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FBCD4-8C15-5A4C-BBB1-5748FD2AB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88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7BF16-1A83-4F4B-8E0C-8E42673187A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05F88-FA2E-2D4B-A493-5CF288335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0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4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03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65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AD499-ABDF-E341-D4D3-C966C39E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DD1AE-6796-62DB-179D-2CF03DE43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7D930-89A6-C405-2F83-68ED8916B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96D1C-4BC5-81F5-825A-3380217E5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46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42FF-59F6-D50D-9C31-D40086CE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02033-A543-6412-4081-B36A96765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5140F-E85B-9AEA-91CF-797BDCF34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648BF-5757-946D-B741-8A7808007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918BC-215F-EB3A-39CE-4A3CAFA9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AAECA-B048-ACC5-011B-B602A8A62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19443-CC11-D9A8-1261-B0A0F8E15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0AA43-5150-E8A0-14D6-920C67798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88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10E6B-4A0C-A19C-74F0-F6771439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9C09C-3858-63FD-91EF-8E779BC93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7C47B-6B2B-6940-4595-C46916002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F36A5-6962-A53C-1360-9F3026306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9CDB5-6310-98A8-8C71-8F17FE9CC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363F5-A102-1B33-8961-8BAF4613D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C4F3A-E9E6-6956-D0EF-99530749E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F6ADD-38F3-7EDD-00DA-6679CD850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42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068DD-74D9-00E1-932D-7A5FAEE9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3A939-2FDC-5B84-EB64-4E7766EDA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0129C-E8C0-431F-5D03-DA03B564D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F3CA2-94F3-EC21-696E-CF6533B2A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43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0C242-0CD2-AFF0-BDC2-3C15F5896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B660C-CF9C-270E-51AE-E61E9C7D5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ECF2D-71AD-7B02-51CD-B28EFA960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F95A4-BF10-5241-8657-8E84A0CB2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33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29E6-2D79-E50D-8617-9EC2188D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8C80F-9714-7092-81DD-A66E90CC4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F42F1-ECDD-4CF5-5206-50971ED27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6728A-E1E7-1449-9774-64C0F224A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49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75B3-445A-2C9C-19E8-1156E40A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19921-D5C3-D10B-2C03-DA6045FCA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A0DAB-D140-241A-B5BF-F20EE0ADA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9529E-744B-1E48-8CDA-6DE7897AC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77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4865-BDAA-B5BE-9AA9-4A2F7071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63E92-DAD9-C7B8-326D-E59D26FCD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661D2-9023-C984-17C9-F624DB15A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11CEE-8DCD-7551-8B65-C7C31D539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92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2DA8A-1D68-FCB8-2F8D-463538086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8D995-34C7-386F-5D89-6224D3CE1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60E86-46F3-CCFD-D8F6-4B61136B4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74B70-4E6F-49C1-C524-CAEE8BE86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13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4650F-28A7-25AE-5E6B-C39029E4E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2CEB7-22AB-5B32-6D8D-AFFA094FC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E3833-8851-47ED-FF9A-9C9006BF8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AE455-C01D-9D26-5ED8-7F705E486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19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FD3A7-29E5-CC00-1EBA-D8A59F87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5EB1E-5BB9-0D89-3A0E-684321EDC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1B135-70AE-F777-214A-D6857D48A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5FB6E-174A-6E07-EA55-04346FFBD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96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5D866-DEE4-217B-80A1-0DF2A82E9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B7DE2-1C95-109F-FC9E-8FF3BAC40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15E0A-804D-12EB-9B3F-BBC0FD85A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762F0-D3B2-4BAD-B22B-D3B8A2866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24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278C-8897-2675-7E09-6DAEF6AAA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61FAE-63A9-2F21-B85B-117DB30CC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5B4AE-C064-1BDB-7A9D-7EC5A1754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C4CD2-1503-6071-3FE2-27138126D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24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713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05F88-FA2E-2D4B-A493-5CF28833503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4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Background Image" descr="Southern New Hampshire logo on a blue background">
            <a:extLst>
              <a:ext uri="{FF2B5EF4-FFF2-40B4-BE49-F238E27FC236}">
                <a16:creationId xmlns:a16="http://schemas.microsoft.com/office/drawing/2014/main" id="{D452D5E5-0ADC-E8FE-DD5C-C2B9590365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0"/>
          </a:xfrm>
          <a:prstGeom prst="rect">
            <a:avLst/>
          </a:prstGeom>
        </p:spPr>
      </p:pic>
      <p:sp>
        <p:nvSpPr>
          <p:cNvPr id="10" name="Title">
            <a:extLst>
              <a:ext uri="{FF2B5EF4-FFF2-40B4-BE49-F238E27FC236}">
                <a16:creationId xmlns:a16="http://schemas.microsoft.com/office/drawing/2014/main" id="{CCE66109-8656-9BC6-84AC-68262E9D1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424" y="2074862"/>
            <a:ext cx="5033682" cy="993775"/>
          </a:xfrm>
        </p:spPr>
        <p:txBody>
          <a:bodyPr>
            <a:noAutofit/>
          </a:bodyPr>
          <a:lstStyle>
            <a:lvl1pPr marL="0" indent="0">
              <a:tabLst/>
              <a:defRPr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741E881D-7A3D-B397-5166-74C67D2CE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425" y="3257340"/>
            <a:ext cx="4343400" cy="722989"/>
          </a:xfrm>
        </p:spPr>
        <p:txBody>
          <a:bodyPr>
            <a:noAutofit/>
          </a:bodyPr>
          <a:lstStyle>
            <a:lvl1pPr marL="0" indent="0" algn="l">
              <a:buNone/>
              <a:defRPr sz="21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Heading Col 1">
            <a:extLst>
              <a:ext uri="{FF2B5EF4-FFF2-40B4-BE49-F238E27FC236}">
                <a16:creationId xmlns:a16="http://schemas.microsoft.com/office/drawing/2014/main" id="{FE9BEA26-E335-ABC8-E097-9732962A275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35424" y="4093719"/>
            <a:ext cx="3886200" cy="617934"/>
          </a:xfrm>
        </p:spPr>
        <p:txBody>
          <a:bodyPr anchor="t" anchorCtr="0"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479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image">
            <a:extLst>
              <a:ext uri="{FF2B5EF4-FFF2-40B4-BE49-F238E27FC236}">
                <a16:creationId xmlns:a16="http://schemas.microsoft.com/office/drawing/2014/main" id="{53E047B7-3596-2F38-3312-1620D1FF4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338C4316-A48E-AE92-BAF6-9BC4B994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425" y="2074862"/>
            <a:ext cx="5024716" cy="993775"/>
          </a:xfrm>
        </p:spPr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C189000D-706D-E174-920E-2A791842E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425" y="3257340"/>
            <a:ext cx="4343400" cy="722989"/>
          </a:xfrm>
        </p:spPr>
        <p:txBody>
          <a:bodyPr>
            <a:normAutofit/>
          </a:bodyPr>
          <a:lstStyle>
            <a:lvl1pPr marL="0" indent="0" algn="l">
              <a:buNone/>
              <a:defRPr sz="21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Logo" descr="Southern New Hampshire University logo">
            <a:extLst>
              <a:ext uri="{FF2B5EF4-FFF2-40B4-BE49-F238E27FC236}">
                <a16:creationId xmlns:a16="http://schemas.microsoft.com/office/drawing/2014/main" id="{FA2AA8B0-BA3C-F3D9-BF49-565AF7D164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45631" y="4016282"/>
            <a:ext cx="2108199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6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>
            <a:extLst>
              <a:ext uri="{FF2B5EF4-FFF2-40B4-BE49-F238E27FC236}">
                <a16:creationId xmlns:a16="http://schemas.microsoft.com/office/drawing/2014/main" id="{53E047B7-3596-2F38-3312-1620D1FF4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338C4316-A48E-AE92-BAF6-9BC4B994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425" y="2074862"/>
            <a:ext cx="5024716" cy="993775"/>
          </a:xfrm>
        </p:spPr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C189000D-706D-E174-920E-2A791842E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425" y="3257340"/>
            <a:ext cx="4343400" cy="722989"/>
          </a:xfrm>
        </p:spPr>
        <p:txBody>
          <a:bodyPr>
            <a:normAutofit/>
          </a:bodyPr>
          <a:lstStyle>
            <a:lvl1pPr marL="0" indent="0" algn="l">
              <a:buNone/>
              <a:defRPr sz="21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Speaker's Picture" descr="Presenter's image">
            <a:extLst>
              <a:ext uri="{FF2B5EF4-FFF2-40B4-BE49-F238E27FC236}">
                <a16:creationId xmlns:a16="http://schemas.microsoft.com/office/drawing/2014/main" id="{06D03DAD-94F2-5B6F-315B-D133055EDB9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727092" y="287484"/>
            <a:ext cx="914400" cy="1154137"/>
          </a:xfrm>
          <a:solidFill>
            <a:schemeClr val="bg1"/>
          </a:solidFill>
          <a:ln w="15875"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Caption Speaker's Picture">
            <a:extLst>
              <a:ext uri="{FF2B5EF4-FFF2-40B4-BE49-F238E27FC236}">
                <a16:creationId xmlns:a16="http://schemas.microsoft.com/office/drawing/2014/main" id="{2950EDFA-2D08-2050-FA6A-02E2CA7B5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51643" y="1586994"/>
            <a:ext cx="1065297" cy="596949"/>
          </a:xfrm>
        </p:spPr>
        <p:txBody>
          <a:bodyPr wrap="square">
            <a:noAutofit/>
          </a:bodyPr>
          <a:lstStyle>
            <a:lvl1pPr marL="0" indent="0">
              <a:buNone/>
              <a:defRPr sz="1100" b="1">
                <a:solidFill>
                  <a:schemeClr val="accent4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Logo" descr="Southern New Hampshire University logo">
            <a:extLst>
              <a:ext uri="{FF2B5EF4-FFF2-40B4-BE49-F238E27FC236}">
                <a16:creationId xmlns:a16="http://schemas.microsoft.com/office/drawing/2014/main" id="{FA2AA8B0-BA3C-F3D9-BF49-565AF7D164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45631" y="4016282"/>
            <a:ext cx="2108199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2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>
            <a:extLst>
              <a:ext uri="{FF2B5EF4-FFF2-40B4-BE49-F238E27FC236}">
                <a16:creationId xmlns:a16="http://schemas.microsoft.com/office/drawing/2014/main" id="{07F61E51-962E-B196-A690-74C7EDE52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Logo" descr="Southern New Hampshire University logo&#10;">
            <a:extLst>
              <a:ext uri="{FF2B5EF4-FFF2-40B4-BE49-F238E27FC236}">
                <a16:creationId xmlns:a16="http://schemas.microsoft.com/office/drawing/2014/main" id="{840527C1-37A2-D4E7-2FC7-A225AED10B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0ABA6687-CE28-B888-1717-025FC79DB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69C8A063-682E-675C-12B4-1F16568CF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674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ED93D46-DA19-8A41-9F59-BE84DFFB50F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A8A166D-0679-E32D-CAE1-725CCCD64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1693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Southern New Hampshire University logo&#10;">
            <a:extLst>
              <a:ext uri="{FF2B5EF4-FFF2-40B4-BE49-F238E27FC236}">
                <a16:creationId xmlns:a16="http://schemas.microsoft.com/office/drawing/2014/main" id="{840527C1-37A2-D4E7-2FC7-A225AED10B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F8468871-FBAE-DB70-6762-19E542089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75DAA69E-1915-3021-64FD-5EC7CBF77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674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211A998-AE5E-164D-A9CA-1A9C350502F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093462B1-6FE0-1EFA-A0C7-CB3A4D51F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8569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>
            <a:extLst>
              <a:ext uri="{FF2B5EF4-FFF2-40B4-BE49-F238E27FC236}">
                <a16:creationId xmlns:a16="http://schemas.microsoft.com/office/drawing/2014/main" id="{CDA05288-2B86-9817-9EA6-F03542C0D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35212B6A-4C53-7C8F-F611-CE561D4C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424" y="2074862"/>
            <a:ext cx="5024717" cy="99377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0A564674-691A-3679-5445-33F6F2B78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425" y="3200400"/>
            <a:ext cx="4343400" cy="91028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" name="Logo" descr="Southern New Hampshire University logo&#10;">
            <a:extLst>
              <a:ext uri="{FF2B5EF4-FFF2-40B4-BE49-F238E27FC236}">
                <a16:creationId xmlns:a16="http://schemas.microsoft.com/office/drawing/2014/main" id="{FABD34F9-EC4B-8005-1532-C02199CAD8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  <p:cxnSp>
        <p:nvCxnSpPr>
          <p:cNvPr id="6" name="Vertical Line">
            <a:extLst>
              <a:ext uri="{FF2B5EF4-FFF2-40B4-BE49-F238E27FC236}">
                <a16:creationId xmlns:a16="http://schemas.microsoft.com/office/drawing/2014/main" id="{3F9EC646-6084-30B6-B499-B6F832809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" y="3200400"/>
            <a:ext cx="0" cy="91028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8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191180" cy="994172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Main Content"/>
          <p:cNvSpPr>
            <a:spLocks noGrp="1"/>
          </p:cNvSpPr>
          <p:nvPr>
            <p:ph idx="1"/>
          </p:nvPr>
        </p:nvSpPr>
        <p:spPr>
          <a:xfrm>
            <a:off x="457200" y="1369219"/>
            <a:ext cx="8191180" cy="2647063"/>
          </a:xfrm>
        </p:spPr>
        <p:txBody>
          <a:bodyPr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F010B26D-1E81-8E54-C9DD-CD5EAC136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FB837116-FF5C-B28C-DCDE-AED41AC1E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962E535-64FB-9145-B820-DCDA8C12187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1293CAFC-FE6C-325A-40C9-8C0FBAEC7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7" name="Logo" descr="Southern New Hampshire University logo&#10;">
            <a:extLst>
              <a:ext uri="{FF2B5EF4-FFF2-40B4-BE49-F238E27FC236}">
                <a16:creationId xmlns:a16="http://schemas.microsoft.com/office/drawing/2014/main" id="{95F51EBC-C466-7502-BC37-A8566CCD29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457200" y="273844"/>
            <a:ext cx="8191180" cy="994172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Main Content 1"/>
          <p:cNvSpPr>
            <a:spLocks noGrp="1"/>
          </p:cNvSpPr>
          <p:nvPr>
            <p:ph sz="half" idx="1"/>
          </p:nvPr>
        </p:nvSpPr>
        <p:spPr>
          <a:xfrm>
            <a:off x="457200" y="1369219"/>
            <a:ext cx="3886200" cy="2647063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Main Content 2"/>
          <p:cNvSpPr>
            <a:spLocks noGrp="1"/>
          </p:cNvSpPr>
          <p:nvPr>
            <p:ph sz="half" idx="2"/>
          </p:nvPr>
        </p:nvSpPr>
        <p:spPr>
          <a:xfrm>
            <a:off x="4750654" y="1369219"/>
            <a:ext cx="3886200" cy="2647063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CCEB28B2-67EA-A0F2-9618-4AC2F29C8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7BF1566D-9652-176B-7D7F-6D7BE3526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A0BFCEB-5BE2-0C41-9961-748AF10A2D2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BA2C4708-EE7A-345E-C299-4EF97F7E0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8" name="Logo" descr="Southern New Hampshire University logo&#10;">
            <a:extLst>
              <a:ext uri="{FF2B5EF4-FFF2-40B4-BE49-F238E27FC236}">
                <a16:creationId xmlns:a16="http://schemas.microsoft.com/office/drawing/2014/main" id="{895D415B-25B0-64F5-E579-DD52279083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92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 Image">
            <a:extLst>
              <a:ext uri="{FF2B5EF4-FFF2-40B4-BE49-F238E27FC236}">
                <a16:creationId xmlns:a16="http://schemas.microsoft.com/office/drawing/2014/main" id="{349C0EC5-94FE-D914-3798-53A882706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457199" y="273844"/>
            <a:ext cx="6170103" cy="994172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Main Content"/>
          <p:cNvSpPr>
            <a:spLocks noGrp="1"/>
          </p:cNvSpPr>
          <p:nvPr>
            <p:ph sz="half" idx="1"/>
          </p:nvPr>
        </p:nvSpPr>
        <p:spPr>
          <a:xfrm>
            <a:off x="457199" y="1369219"/>
            <a:ext cx="5029201" cy="2647063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CCEB28B2-67EA-A0F2-9618-4AC2F29C8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7BF1566D-9652-176B-7D7F-6D7BE3526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5D0D77-FCF4-E946-A00A-4772DE86D7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BA2C4708-EE7A-345E-C299-4EF97F7E0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8" name="Logo" descr="Southern New Hampshire University logo&#10;">
            <a:extLst>
              <a:ext uri="{FF2B5EF4-FFF2-40B4-BE49-F238E27FC236}">
                <a16:creationId xmlns:a16="http://schemas.microsoft.com/office/drawing/2014/main" id="{895D415B-25B0-64F5-E579-DD52279083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3844"/>
            <a:ext cx="8193024" cy="994172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Heading Col 1"/>
          <p:cNvSpPr>
            <a:spLocks noGrp="1"/>
          </p:cNvSpPr>
          <p:nvPr>
            <p:ph type="body" idx="1"/>
          </p:nvPr>
        </p:nvSpPr>
        <p:spPr>
          <a:xfrm>
            <a:off x="457200" y="1260872"/>
            <a:ext cx="3886200" cy="617934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Main Content Col 1"/>
          <p:cNvSpPr>
            <a:spLocks noGrp="1"/>
          </p:cNvSpPr>
          <p:nvPr>
            <p:ph sz="half" idx="2"/>
          </p:nvPr>
        </p:nvSpPr>
        <p:spPr>
          <a:xfrm>
            <a:off x="457200" y="1878807"/>
            <a:ext cx="3886200" cy="21374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Heading Col 2"/>
          <p:cNvSpPr>
            <a:spLocks noGrp="1"/>
          </p:cNvSpPr>
          <p:nvPr>
            <p:ph type="body" sz="quarter" idx="3"/>
          </p:nvPr>
        </p:nvSpPr>
        <p:spPr>
          <a:xfrm>
            <a:off x="4745462" y="1260872"/>
            <a:ext cx="3886200" cy="617934"/>
          </a:xfrm>
        </p:spPr>
        <p:txBody>
          <a:bodyPr anchor="t" anchorCtr="0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Main Content Col 2"/>
          <p:cNvSpPr>
            <a:spLocks noGrp="1"/>
          </p:cNvSpPr>
          <p:nvPr>
            <p:ph sz="quarter" idx="4"/>
          </p:nvPr>
        </p:nvSpPr>
        <p:spPr>
          <a:xfrm>
            <a:off x="4745462" y="1878807"/>
            <a:ext cx="3886200" cy="21374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A053517D-E436-6242-0301-C9CF511E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8C7BE642-8602-B690-C888-1F9C9147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26ABD8D-ED90-8545-8084-3A783A05F6C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D34CE446-01E0-2DAE-5993-E078592C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13" name="Logo" descr="Southern New Hampshire University logo&#10;">
            <a:extLst>
              <a:ext uri="{FF2B5EF4-FFF2-40B4-BE49-F238E27FC236}">
                <a16:creationId xmlns:a16="http://schemas.microsoft.com/office/drawing/2014/main" id="{FED75BCA-70B1-A69A-CD0D-EE268BBA6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3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 image">
            <a:extLst>
              <a:ext uri="{FF2B5EF4-FFF2-40B4-BE49-F238E27FC236}">
                <a16:creationId xmlns:a16="http://schemas.microsoft.com/office/drawing/2014/main" id="{5A33D2CD-CB2F-2E9A-56AF-0A408E76E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457200" y="273844"/>
            <a:ext cx="6170103" cy="994172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heading"/>
          <p:cNvSpPr>
            <a:spLocks noGrp="1"/>
          </p:cNvSpPr>
          <p:nvPr>
            <p:ph type="body" idx="1"/>
          </p:nvPr>
        </p:nvSpPr>
        <p:spPr>
          <a:xfrm>
            <a:off x="457200" y="1260872"/>
            <a:ext cx="6170102" cy="617934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Main Content"/>
          <p:cNvSpPr>
            <a:spLocks noGrp="1"/>
          </p:cNvSpPr>
          <p:nvPr>
            <p:ph sz="half" idx="2"/>
          </p:nvPr>
        </p:nvSpPr>
        <p:spPr>
          <a:xfrm>
            <a:off x="457200" y="1878806"/>
            <a:ext cx="5029200" cy="235253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A053517D-E436-6242-0301-C9CF511E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8C7BE642-8602-B690-C888-1F9C9147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42E5C99-8FF0-9D43-B51B-76C35C30636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D34CE446-01E0-2DAE-5993-E078592C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13" name="Logo" descr="Southern New Hampshire University logo&#10;">
            <a:extLst>
              <a:ext uri="{FF2B5EF4-FFF2-40B4-BE49-F238E27FC236}">
                <a16:creationId xmlns:a16="http://schemas.microsoft.com/office/drawing/2014/main" id="{FED75BCA-70B1-A69A-CD0D-EE268BBA62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37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457200" y="273844"/>
            <a:ext cx="8193024" cy="994172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AFFD4091-136B-9523-7C77-E716CBB63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061766BD-69EA-E826-E8E0-E68724C8B0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9CD92E-2FE9-CF46-964B-9210FE24679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56F6472F-E33E-05A1-0DA0-E912D81AD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6" name="Picture 5" descr="Southern New Hampshire University logo&#10;">
            <a:extLst>
              <a:ext uri="{FF2B5EF4-FFF2-40B4-BE49-F238E27FC236}">
                <a16:creationId xmlns:a16="http://schemas.microsoft.com/office/drawing/2014/main" id="{D9521C11-AC8D-E56A-BD2B-1D18B5E73F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38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20E97C2C-33C0-F7DB-072A-760C78E11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3CB5D032-5C46-67E0-A607-B199B779A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BD07E5E-C7CB-294C-AFFB-D3E5F619C9C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55C9C67-2597-C512-7F4D-EB740D2AB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5" name="Logo" descr="Southern New Hampshire University logo&#10;">
            <a:extLst>
              <a:ext uri="{FF2B5EF4-FFF2-40B4-BE49-F238E27FC236}">
                <a16:creationId xmlns:a16="http://schemas.microsoft.com/office/drawing/2014/main" id="{7FD25233-5A77-DFEE-D2D8-4CD417A7D7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11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 descr="Smiling graduate holding diploma in hand, commencement">
            <a:extLst>
              <a:ext uri="{FF2B5EF4-FFF2-40B4-BE49-F238E27FC236}">
                <a16:creationId xmlns:a16="http://schemas.microsoft.com/office/drawing/2014/main" id="{75091E98-5845-8DDE-AB92-EA6E67A338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382" t="-149" r="26723" b="90"/>
          <a:stretch/>
        </p:blipFill>
        <p:spPr>
          <a:xfrm>
            <a:off x="4827639" y="-7628"/>
            <a:ext cx="4316361" cy="5151128"/>
          </a:xfrm>
          <a:prstGeom prst="rect">
            <a:avLst/>
          </a:prstGeom>
        </p:spPr>
      </p:pic>
      <p:pic>
        <p:nvPicPr>
          <p:cNvPr id="12" name="Background">
            <a:extLst>
              <a:ext uri="{FF2B5EF4-FFF2-40B4-BE49-F238E27FC236}">
                <a16:creationId xmlns:a16="http://schemas.microsoft.com/office/drawing/2014/main" id="{8CFB47A0-1CFA-C3B8-1BB0-431C24903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469" y="3056"/>
            <a:ext cx="7124700" cy="5143500"/>
          </a:xfrm>
          <a:prstGeom prst="rect">
            <a:avLst/>
          </a:prstGeom>
        </p:spPr>
      </p:pic>
      <p:sp>
        <p:nvSpPr>
          <p:cNvPr id="16" name="Slide Title">
            <a:extLst>
              <a:ext uri="{FF2B5EF4-FFF2-40B4-BE49-F238E27FC236}">
                <a16:creationId xmlns:a16="http://schemas.microsoft.com/office/drawing/2014/main" id="{B8B5BFAF-B56C-A952-D41B-14E24374A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3844"/>
            <a:ext cx="6170103" cy="994172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Main Content">
            <a:extLst>
              <a:ext uri="{FF2B5EF4-FFF2-40B4-BE49-F238E27FC236}">
                <a16:creationId xmlns:a16="http://schemas.microsoft.com/office/drawing/2014/main" id="{B19EA341-D44B-EABE-40C2-6ED4E70C2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369219"/>
            <a:ext cx="5029201" cy="2647063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8D898072-0E90-1E2A-2EBA-988735E6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7880A9-746C-8F42-8784-AB6F724C5BD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9CBE15E6-CE32-F133-4805-F037953C3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55059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 descr="Two female graduates celebrating, holding diplomas, commencement">
            <a:extLst>
              <a:ext uri="{FF2B5EF4-FFF2-40B4-BE49-F238E27FC236}">
                <a16:creationId xmlns:a16="http://schemas.microsoft.com/office/drawing/2014/main" id="{75091E98-5845-8DDE-AB92-EA6E67A338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488" t="-148" r="34650" b="148"/>
          <a:stretch/>
        </p:blipFill>
        <p:spPr>
          <a:xfrm>
            <a:off x="4827639" y="-7628"/>
            <a:ext cx="4316361" cy="5151128"/>
          </a:xfrm>
          <a:prstGeom prst="rect">
            <a:avLst/>
          </a:prstGeom>
        </p:spPr>
      </p:pic>
      <p:pic>
        <p:nvPicPr>
          <p:cNvPr id="12" name="Background">
            <a:extLst>
              <a:ext uri="{FF2B5EF4-FFF2-40B4-BE49-F238E27FC236}">
                <a16:creationId xmlns:a16="http://schemas.microsoft.com/office/drawing/2014/main" id="{8CFB47A0-1CFA-C3B8-1BB0-431C24903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469" y="3056"/>
            <a:ext cx="7124700" cy="51435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C6888F3A-53AB-02D7-8066-F576D48D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3844"/>
            <a:ext cx="6170103" cy="994172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Main Content">
            <a:extLst>
              <a:ext uri="{FF2B5EF4-FFF2-40B4-BE49-F238E27FC236}">
                <a16:creationId xmlns:a16="http://schemas.microsoft.com/office/drawing/2014/main" id="{64BA8589-C292-5A3E-581C-32DE0AACB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369219"/>
            <a:ext cx="5029201" cy="2647063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8D898072-0E90-1E2A-2EBA-988735E6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7880A9-746C-8F42-8784-AB6F724C5BD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9CBE15E6-CE32-F133-4805-F037953C3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831042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ackground">
            <a:extLst>
              <a:ext uri="{FF2B5EF4-FFF2-40B4-BE49-F238E27FC236}">
                <a16:creationId xmlns:a16="http://schemas.microsoft.com/office/drawing/2014/main" id="{FB8A9694-B6BE-32C7-EAE3-76856C217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6858000" y="2075687"/>
            <a:ext cx="2079812" cy="1138859"/>
          </a:xfrm>
        </p:spPr>
        <p:txBody>
          <a:bodyPr anchor="t" anchorCtr="0">
            <a:noAutofit/>
          </a:bodyPr>
          <a:lstStyle>
            <a:lvl1pPr>
              <a:defRPr sz="21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sz="half" idx="2"/>
          </p:nvPr>
        </p:nvSpPr>
        <p:spPr>
          <a:xfrm>
            <a:off x="6858000" y="3316940"/>
            <a:ext cx="2079812" cy="5969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Main Content"/>
          <p:cNvSpPr>
            <a:spLocks noGrp="1"/>
          </p:cNvSpPr>
          <p:nvPr>
            <p:ph idx="1"/>
          </p:nvPr>
        </p:nvSpPr>
        <p:spPr>
          <a:xfrm>
            <a:off x="457200" y="1371601"/>
            <a:ext cx="4629150" cy="264468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4B5039-CDA8-CECD-4EB5-AA011BE3A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8D898072-0E90-1E2A-2EBA-988735E6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7880A9-746C-8F42-8784-AB6F724C5BD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9CBE15E6-CE32-F133-4805-F037953C3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8" name="Logo" descr="Southern New Hampshire University logo&#10;">
            <a:extLst>
              <a:ext uri="{FF2B5EF4-FFF2-40B4-BE49-F238E27FC236}">
                <a16:creationId xmlns:a16="http://schemas.microsoft.com/office/drawing/2014/main" id="{EA575E6B-E185-74BA-BCF7-D55B5C56B5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28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ackground">
            <a:extLst>
              <a:ext uri="{FF2B5EF4-FFF2-40B4-BE49-F238E27FC236}">
                <a16:creationId xmlns:a16="http://schemas.microsoft.com/office/drawing/2014/main" id="{BE224597-8273-7F4B-0D1C-8A51E1435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Title">
            <a:extLst>
              <a:ext uri="{FF2B5EF4-FFF2-40B4-BE49-F238E27FC236}">
                <a16:creationId xmlns:a16="http://schemas.microsoft.com/office/drawing/2014/main" id="{0C119B71-2456-52AD-9B35-ADE3D4858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2075687"/>
            <a:ext cx="2079812" cy="1138859"/>
          </a:xfrm>
        </p:spPr>
        <p:txBody>
          <a:bodyPr anchor="t" anchorCtr="0">
            <a:noAutofit/>
          </a:bodyPr>
          <a:lstStyle>
            <a:lvl1pPr>
              <a:defRPr sz="21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290A237A-1A4D-2DF6-E395-7A125B924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0" y="3316940"/>
            <a:ext cx="2079812" cy="69934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Main Content Image"/>
          <p:cNvSpPr>
            <a:spLocks noGrp="1" noChangeAspect="1"/>
          </p:cNvSpPr>
          <p:nvPr>
            <p:ph type="pic" idx="1"/>
          </p:nvPr>
        </p:nvSpPr>
        <p:spPr>
          <a:xfrm>
            <a:off x="457200" y="1371601"/>
            <a:ext cx="4629150" cy="2644681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131124E9-63B8-A0A5-7D97-84AF4F525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1FEC0B95-2B9E-1294-1FCD-A2194F4F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42CA14-E6AD-2D49-B7A2-290F5864324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82597C32-937F-B57D-8BC9-FF71B7F31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8" name="Logo" descr="Southern New Hampshire University logo&#10;">
            <a:extLst>
              <a:ext uri="{FF2B5EF4-FFF2-40B4-BE49-F238E27FC236}">
                <a16:creationId xmlns:a16="http://schemas.microsoft.com/office/drawing/2014/main" id="{F014BEA2-A6D8-BA0B-4CED-B9565C1F49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8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457200" y="273844"/>
            <a:ext cx="819118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Main Content"/>
          <p:cNvSpPr>
            <a:spLocks noGrp="1"/>
          </p:cNvSpPr>
          <p:nvPr>
            <p:ph type="body" idx="1"/>
          </p:nvPr>
        </p:nvSpPr>
        <p:spPr>
          <a:xfrm>
            <a:off x="457200" y="1369219"/>
            <a:ext cx="8191180" cy="2647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04172AE-34B9-C89F-C52B-A8EEF4654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6010" y="4767263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38FEDE-97C2-4C40-929C-DF79E793EB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9149992A-584D-3AF8-23D5-587943B64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8811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A927E3F-F145-AA41-96F9-4BDF44657E0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A977F310-2BE0-2883-A6A1-2D0D6F77F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318" y="4767263"/>
            <a:ext cx="53023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Proprietary and Confidential</a:t>
            </a:r>
          </a:p>
        </p:txBody>
      </p:sp>
      <p:pic>
        <p:nvPicPr>
          <p:cNvPr id="11" name="Logo" descr="Southern New Hampshire University logo&#10;">
            <a:extLst>
              <a:ext uri="{FF2B5EF4-FFF2-40B4-BE49-F238E27FC236}">
                <a16:creationId xmlns:a16="http://schemas.microsoft.com/office/drawing/2014/main" id="{3597F696-2752-8F4A-3A0D-0BD80BA99D4D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745630" y="4016282"/>
            <a:ext cx="2108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08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77" r:id="rId3"/>
    <p:sldLayoutId id="2147483672" r:id="rId4"/>
    <p:sldLayoutId id="2147483674" r:id="rId5"/>
    <p:sldLayoutId id="2147483673" r:id="rId6"/>
    <p:sldLayoutId id="2147483662" r:id="rId7"/>
    <p:sldLayoutId id="2147483664" r:id="rId8"/>
    <p:sldLayoutId id="2147483675" r:id="rId9"/>
    <p:sldLayoutId id="2147483665" r:id="rId10"/>
    <p:sldLayoutId id="2147483676" r:id="rId11"/>
    <p:sldLayoutId id="2147483666" r:id="rId12"/>
    <p:sldLayoutId id="2147483667" r:id="rId13"/>
    <p:sldLayoutId id="2147483668" r:id="rId14"/>
    <p:sldLayoutId id="2147483679" r:id="rId15"/>
    <p:sldLayoutId id="2147483678" r:id="rId16"/>
    <p:sldLayoutId id="2147483669" r:id="rId1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9F28849-DC9E-F56B-9892-42082F96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CS-499 – Code Review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BF637D0A-166B-95B6-2AF7-5EB0048A99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Antonio Diaz-Leyva</a:t>
            </a:r>
          </a:p>
        </p:txBody>
      </p:sp>
    </p:spTree>
    <p:extLst>
      <p:ext uri="{BB962C8B-B14F-4D97-AF65-F5344CB8AC3E}">
        <p14:creationId xmlns:p14="http://schemas.microsoft.com/office/powerpoint/2010/main" val="222064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CD681DF-691B-5226-6AE7-C2662481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423" y="2074862"/>
            <a:ext cx="5842455" cy="993775"/>
          </a:xfrm>
        </p:spPr>
        <p:txBody>
          <a:bodyPr/>
          <a:lstStyle/>
          <a:p>
            <a:r>
              <a:rPr lang="en-US" dirty="0"/>
              <a:t>Software Design and Engineering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B311CD13-9DC6-6CF6-BE1D-CCD8663715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CS-465: Travlr Getaways</a:t>
            </a:r>
          </a:p>
        </p:txBody>
      </p:sp>
    </p:spTree>
    <p:extLst>
      <p:ext uri="{BB962C8B-B14F-4D97-AF65-F5344CB8AC3E}">
        <p14:creationId xmlns:p14="http://schemas.microsoft.com/office/powerpoint/2010/main" val="174362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9A3A3D00-BED9-E0DD-9304-E97FC35D1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Travlr Getaways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7AF35D41-4B77-E0E5-6C37-6B8FFDEF8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9219"/>
            <a:ext cx="8191180" cy="2844972"/>
          </a:xfrm>
        </p:spPr>
        <p:txBody>
          <a:bodyPr/>
          <a:lstStyle/>
          <a:p>
            <a:r>
              <a:rPr lang="en-US" dirty="0"/>
              <a:t>app_server: Express + Handlebars. Renders the home page and the trip listing</a:t>
            </a:r>
          </a:p>
          <a:p>
            <a:r>
              <a:rPr lang="en-US" dirty="0"/>
              <a:t>app_api: Express + Mongoose. Seven routes, Passport login, and JWT</a:t>
            </a:r>
          </a:p>
          <a:p>
            <a:r>
              <a:rPr lang="en-US" dirty="0"/>
              <a:t>app_admin: Angular single-page app for adding, editing, and deleting trips.</a:t>
            </a:r>
          </a:p>
          <a:p>
            <a:r>
              <a:rPr lang="en-US" dirty="0"/>
              <a:t>travlr: MongoDB database</a:t>
            </a:r>
          </a:p>
          <a:p>
            <a:pPr lvl="1"/>
            <a:r>
              <a:rPr lang="en-US" dirty="0"/>
              <a:t>trips</a:t>
            </a:r>
          </a:p>
          <a:p>
            <a:pPr lvl="1"/>
            <a:r>
              <a:rPr lang="en-US" dirty="0"/>
              <a:t>users</a:t>
            </a:r>
          </a:p>
          <a:p>
            <a:r>
              <a:rPr lang="en-US" dirty="0"/>
              <a:t>The customer site and admin app calls the API over HTTP which is the only path to the data.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220E61B0-A789-5B53-1498-147306E4C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32EFEC17-D946-1B3E-6FF9-72B46A4F6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7057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09622-9B64-97B2-395A-371D3197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CF980BBF-A32E-203F-0301-B9C65554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Starter Code Layout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62A57905-79C7-80CB-6D5C-B81A709FE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9219"/>
            <a:ext cx="8191180" cy="3123268"/>
          </a:xfrm>
        </p:spPr>
        <p:txBody>
          <a:bodyPr/>
          <a:lstStyle/>
          <a:p>
            <a:r>
              <a:rPr lang="en-US" dirty="0"/>
              <a:t>adiazleyva_travlr/</a:t>
            </a:r>
          </a:p>
          <a:p>
            <a:pPr lvl="1"/>
            <a:r>
              <a:rPr lang="en-US" dirty="0"/>
              <a:t>apps.js 		bin/www</a:t>
            </a:r>
          </a:p>
          <a:p>
            <a:pPr lvl="1"/>
            <a:r>
              <a:rPr lang="en-US" dirty="0"/>
              <a:t>app_server/	customer pages</a:t>
            </a:r>
          </a:p>
          <a:p>
            <a:pPr lvl="1"/>
            <a:r>
              <a:rPr lang="en-US" dirty="0"/>
              <a:t>app_api/		REST API</a:t>
            </a:r>
          </a:p>
          <a:p>
            <a:pPr lvl="1"/>
            <a:r>
              <a:rPr lang="en-US" dirty="0"/>
              <a:t>app_admin/	Angular SPA</a:t>
            </a:r>
          </a:p>
          <a:p>
            <a:pPr lvl="1"/>
            <a:r>
              <a:rPr lang="en-US" dirty="0"/>
              <a:t>data/		trips.json</a:t>
            </a:r>
          </a:p>
          <a:p>
            <a:pPr lvl="1"/>
            <a:r>
              <a:rPr lang="en-US" dirty="0"/>
              <a:t>public/		template and CSS</a:t>
            </a:r>
          </a:p>
          <a:p>
            <a:r>
              <a:rPr lang="en-US" dirty="0"/>
              <a:t>Walkthrough:</a:t>
            </a:r>
          </a:p>
          <a:p>
            <a:r>
              <a:rPr lang="en-US" dirty="0"/>
              <a:t>bin/www -&gt; app.js -&gt; routes -&gt; travel.js -&gt; travel.hbs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CF3F8317-268A-6EE5-032F-6BEEF20B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234C21E7-2412-BFB2-A75C-703ED24DA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57756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79724-A78A-6F1B-F2E1-42CEE50B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AD09BAA2-4811-9A85-05D3-25F0CBEF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API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2502AF2-BCBC-A685-F1FA-14C82093E76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76957454"/>
              </p:ext>
            </p:extLst>
          </p:nvPr>
        </p:nvGraphicFramePr>
        <p:xfrm>
          <a:off x="457200" y="1370013"/>
          <a:ext cx="6288431" cy="339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109">
                  <a:extLst>
                    <a:ext uri="{9D8B030D-6E8A-4147-A177-3AD203B41FA5}">
                      <a16:colId xmlns:a16="http://schemas.microsoft.com/office/drawing/2014/main" val="1881537614"/>
                    </a:ext>
                  </a:extLst>
                </a:gridCol>
                <a:gridCol w="1917932">
                  <a:extLst>
                    <a:ext uri="{9D8B030D-6E8A-4147-A177-3AD203B41FA5}">
                      <a16:colId xmlns:a16="http://schemas.microsoft.com/office/drawing/2014/main" val="3814926177"/>
                    </a:ext>
                  </a:extLst>
                </a:gridCol>
                <a:gridCol w="1226281">
                  <a:extLst>
                    <a:ext uri="{9D8B030D-6E8A-4147-A177-3AD203B41FA5}">
                      <a16:colId xmlns:a16="http://schemas.microsoft.com/office/drawing/2014/main" val="3425060317"/>
                    </a:ext>
                  </a:extLst>
                </a:gridCol>
                <a:gridCol w="1572109">
                  <a:extLst>
                    <a:ext uri="{9D8B030D-6E8A-4147-A177-3AD203B41FA5}">
                      <a16:colId xmlns:a16="http://schemas.microsoft.com/office/drawing/2014/main" val="1703502485"/>
                    </a:ext>
                  </a:extLst>
                </a:gridCol>
              </a:tblGrid>
              <a:tr h="337858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871836"/>
                  </a:ext>
                </a:extLst>
              </a:tr>
              <a:tr h="337858"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/api/trips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tripsList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951582"/>
                  </a:ext>
                </a:extLst>
              </a:tr>
              <a:tr h="518056"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/api/trips/:tripCode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tripsFindByCode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884308"/>
                  </a:ext>
                </a:extLst>
              </a:tr>
              <a:tr h="509254">
                <a:tc>
                  <a:txBody>
                    <a:bodyPr/>
                    <a:lstStyle/>
                    <a:p>
                      <a:r>
                        <a:rPr lang="en-US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/api/trips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tripsAddTrips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735805"/>
                  </a:ext>
                </a:extLst>
              </a:tr>
              <a:tr h="509254">
                <a:tc>
                  <a:txBody>
                    <a:bodyPr/>
                    <a:lstStyle/>
                    <a:p>
                      <a:r>
                        <a:rPr lang="en-US" dirty="0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/api/trips/:tripCode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tripsUpdateTrip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054491"/>
                  </a:ext>
                </a:extLst>
              </a:tr>
              <a:tr h="509254"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/api/trips/:tripCode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tripsDeleteTrip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237457"/>
                  </a:ext>
                </a:extLst>
              </a:tr>
              <a:tr h="337858">
                <a:tc>
                  <a:txBody>
                    <a:bodyPr/>
                    <a:lstStyle/>
                    <a:p>
                      <a:r>
                        <a:rPr lang="en-US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2713"/>
                  </a:ext>
                </a:extLst>
              </a:tr>
              <a:tr h="337858"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169544"/>
                  </a:ext>
                </a:extLst>
              </a:tr>
            </a:tbl>
          </a:graphicData>
        </a:graphic>
      </p:graphicFrame>
      <p:sp>
        <p:nvSpPr>
          <p:cNvPr id="17" name="Slide Number">
            <a:extLst>
              <a:ext uri="{FF2B5EF4-FFF2-40B4-BE49-F238E27FC236}">
                <a16:creationId xmlns:a16="http://schemas.microsoft.com/office/drawing/2014/main" id="{5C6212A0-9330-1BE6-996F-5098CAB57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6F29FF64-17B2-FD13-817A-4A9CAE0A0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64146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014CD-A3ED-2814-7A40-A319F6A7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A864F693-EACD-E633-672E-10DBC0A1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Admin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F0C44F63-AEE3-25A1-8D7B-BDA858AF9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app.routes.ts</a:t>
            </a:r>
          </a:p>
          <a:p>
            <a:pPr lvl="1"/>
            <a:r>
              <a:rPr lang="en-US" dirty="0"/>
              <a:t>Four routes: list, add, edit, login</a:t>
            </a:r>
          </a:p>
          <a:p>
            <a:r>
              <a:rPr lang="en-US" dirty="0"/>
              <a:t>Components</a:t>
            </a:r>
          </a:p>
          <a:p>
            <a:pPr lvl="1"/>
            <a:r>
              <a:rPr lang="en-US" dirty="0"/>
              <a:t>TripListing, TripCard, AddTrip, EditTrip, and Navbar</a:t>
            </a:r>
          </a:p>
          <a:p>
            <a:r>
              <a:rPr lang="en-US" dirty="0"/>
              <a:t>Services</a:t>
            </a:r>
          </a:p>
          <a:p>
            <a:pPr lvl="1"/>
            <a:r>
              <a:rPr lang="en-US" dirty="0"/>
              <a:t>TripData calls the API. Auth keeps token in browser storage</a:t>
            </a:r>
          </a:p>
          <a:p>
            <a:r>
              <a:rPr lang="en-US" dirty="0"/>
              <a:t>jwt-interceptors.ts</a:t>
            </a:r>
          </a:p>
          <a:p>
            <a:pPr lvl="1"/>
            <a:r>
              <a:rPr lang="en-US" dirty="0"/>
              <a:t>Adds Bearer token to API calls while user is logged in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B112E011-BED0-BB51-28B6-7DFBAD34F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1252D819-013B-6474-CBC4-EB0FEA95A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6171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B805-46E6-8921-36FF-3C7225C16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 – Conversion to Astro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055B6-6565-484D-17EB-065CB369F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project instead of three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A3BDC-B960-B495-BF1D-0B66CDA21A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Layout</a:t>
            </a:r>
          </a:p>
          <a:p>
            <a:r>
              <a:rPr lang="en-US" sz="1200" dirty="0"/>
              <a:t>src/</a:t>
            </a:r>
          </a:p>
          <a:p>
            <a:pPr lvl="1"/>
            <a:r>
              <a:rPr lang="en-US" sz="1100" dirty="0"/>
              <a:t>layouts/		BaseLayout.astro</a:t>
            </a:r>
          </a:p>
          <a:p>
            <a:pPr lvl="1"/>
            <a:r>
              <a:rPr lang="en-US" sz="1100" dirty="0"/>
              <a:t>components/ 		Header, Footer, TripCard</a:t>
            </a:r>
          </a:p>
          <a:p>
            <a:pPr lvl="1"/>
            <a:r>
              <a:rPr lang="en-US" sz="1100" dirty="0"/>
              <a:t>pages/		index, travel, api/</a:t>
            </a:r>
          </a:p>
          <a:p>
            <a:pPr lvl="1"/>
            <a:r>
              <a:rPr lang="en-US" sz="1100" dirty="0"/>
              <a:t>lib/ 		db, trips, nav</a:t>
            </a:r>
          </a:p>
          <a:p>
            <a:pPr lvl="1"/>
            <a:r>
              <a:rPr lang="en-US" sz="1100" dirty="0"/>
              <a:t>models/ Trip.js	Trip.ts</a:t>
            </a:r>
          </a:p>
          <a:p>
            <a:r>
              <a:rPr lang="en-US" sz="1200" dirty="0"/>
              <a:t>public/			css, images</a:t>
            </a:r>
          </a:p>
          <a:p>
            <a:r>
              <a:rPr lang="en-US" sz="1200" dirty="0"/>
              <a:t>data/			trips.json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CE3366-9F5F-AFEB-65E7-3EB4A8C98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45462" y="1878807"/>
            <a:ext cx="3886200" cy="1238104"/>
          </a:xfrm>
        </p:spPr>
        <p:txBody>
          <a:bodyPr/>
          <a:lstStyle/>
          <a:p>
            <a:r>
              <a:rPr lang="en-US" dirty="0"/>
              <a:t>src/lib: shared logic, one connection, one trip query, one nav list</a:t>
            </a:r>
          </a:p>
          <a:p>
            <a:r>
              <a:rPr lang="en-US" dirty="0"/>
              <a:t>public: CSS and images stay 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38D93-4189-5276-C7A9-51A8C0A1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D87A39-E554-853C-33FF-414BF110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9728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0624-2B04-E437-5DCA-181E8A4F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A8644D7-A052-E10D-5315-850CE550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 - Layout and Components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28D4D7-7353-25D5-34B6-FF0CB2627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- Handlebars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10A5-9EF2-C4D5-0BC2-396F7172FC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header.hbs and footer.hbs each held a copy of the linked list</a:t>
            </a:r>
          </a:p>
          <a:p>
            <a:r>
              <a:rPr lang="en-US" dirty="0"/>
              <a:t>Travel was hardcoded as the selected page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80528-54C5-0321-C9C1-26D44D86C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After - Astro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F868B5-07E0-E1FF-AA75-4C98FF365A8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nav.ts holds one link list for both components</a:t>
            </a:r>
          </a:p>
          <a:p>
            <a:r>
              <a:rPr lang="en-US" dirty="0"/>
              <a:t>isCurrent() highlights the page from the URL</a:t>
            </a:r>
          </a:p>
          <a:p>
            <a:r>
              <a:rPr lang="en-US" dirty="0"/>
              <a:t>BaseLayout wraps every page through a slot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FD99ED23-7E8D-DFB2-92EC-0E7ED661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4DA414A5-8A47-9F7E-FADF-0E100C77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25191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F59D-A057-2355-88EC-B430A5F7E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 - Data Layer and Trip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A7FFE-FBED-99BC-B269-1C30686E5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db.ts: opens MongoDB once and reuses the connection</a:t>
            </a:r>
          </a:p>
          <a:p>
            <a:r>
              <a:rPr lang="en-US" dirty="0"/>
              <a:t>trips.ts getTrips() and getTripsByCode() return plain objects, so pages and API can share one query</a:t>
            </a:r>
          </a:p>
          <a:p>
            <a:r>
              <a:rPr lang="en-US" dirty="0"/>
              <a:t>Trip.ts: same eight fields as before with the required rules on start and resort enforced</a:t>
            </a:r>
          </a:p>
          <a:p>
            <a:r>
              <a:rPr lang="en-US" dirty="0"/>
              <a:t>travel.astro: calls getTrips() directly, renders live, and shows empty and error messages.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82DF-A12F-1612-4EFE-5B8032022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8A97C-7A7B-9D16-52DA-8A03B957E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33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4A5E-7A53-591C-FBBC-6B5E574AD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D070E0E-F5A0-2C45-A76B-E8FCFAC6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and Algorithms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F87F7E9-B65F-C24C-324C-F13058F88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425" y="3265291"/>
            <a:ext cx="4343400" cy="722989"/>
          </a:xfrm>
        </p:spPr>
        <p:txBody>
          <a:bodyPr/>
          <a:lstStyle/>
          <a:p>
            <a:r>
              <a:rPr lang="en-US" dirty="0"/>
              <a:t>CS-370: Pirate Pathfinding Agent</a:t>
            </a:r>
          </a:p>
        </p:txBody>
      </p:sp>
    </p:spTree>
    <p:extLst>
      <p:ext uri="{BB962C8B-B14F-4D97-AF65-F5344CB8AC3E}">
        <p14:creationId xmlns:p14="http://schemas.microsoft.com/office/powerpoint/2010/main" val="3595017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FBA7F-5941-2722-C7B7-94929EE89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079D02F-4918-2277-7DF5-D6246043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AI Pathfinder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29FDD4A8-20CF-9DB8-F7F6-0F003892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8x8 Maze of open cells and walls. Our pathfinder can move left, right, up, or down.</a:t>
            </a:r>
          </a:p>
          <a:p>
            <a:r>
              <a:rPr lang="en-US" dirty="0"/>
              <a:t>100% Win Rate reached at epoch 532</a:t>
            </a:r>
          </a:p>
          <a:p>
            <a:r>
              <a:rPr lang="en-US" dirty="0"/>
              <a:t>Deep Q-learning with a small neural network scores each move. The pirate learns from its own experience</a:t>
            </a:r>
          </a:p>
          <a:p>
            <a:r>
              <a:rPr lang="en-US" dirty="0"/>
              <a:t>TreasureMaze and GameExperience handle the maze and replay memory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540C1FA1-E8B4-CF83-0421-8CBDDE9F8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0838DF87-27E4-2A70-8892-95EF05A82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55830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A352-1CF6-A44D-70DA-BA170B802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2DF9DB95-5EB3-8D62-C586-74939687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Each epoch plays one game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1BCBDC4D-8F4E-8355-D20E-EC8BED16A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Start: A random open cell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Move: Explore at rate epsilon, else take the best-scoring move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Remember: Store the move and its reward in replay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Learn: Train on a random batch of 32 after every move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Every 50 epochs the network gets copied into the target network and supplies the future value estimate. 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E638E38D-B1DC-2576-E7A5-8C7DD5573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AC00BFE7-08DB-F1A7-C551-71D5DB5EC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76529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36FB-0FC9-BF99-AE07-023D95924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947F15D1-E61F-B46A-36E7-D08045D0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 – Structure with OOP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E8F9556D-C39B-642B-9181-FA5996577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models, optimizer, and epsilon</a:t>
            </a:r>
          </a:p>
          <a:p>
            <a:pPr lvl="1"/>
            <a:r>
              <a:rPr lang="en-US" dirty="0"/>
              <a:t>train_step and qtrain read shared globals, so the model passed into qtrain is not what gets updated unless it’s the same object</a:t>
            </a:r>
          </a:p>
          <a:p>
            <a:r>
              <a:rPr lang="en-US" dirty="0"/>
              <a:t>Settings hard-coded in cells</a:t>
            </a:r>
          </a:p>
          <a:p>
            <a:pPr lvl="1"/>
            <a:r>
              <a:rPr lang="en-US" dirty="0"/>
              <a:t>The maze, hyperparameters, and start cell live in code, every experiment means editing cells and re-running them in order</a:t>
            </a:r>
          </a:p>
          <a:p>
            <a:r>
              <a:rPr lang="en-US" dirty="0"/>
              <a:t>Results never leave the notebook</a:t>
            </a:r>
          </a:p>
          <a:p>
            <a:pPr lvl="1"/>
            <a:r>
              <a:rPr lang="en-US" dirty="0"/>
              <a:t>The trained model is not saved, so every run retrains from scratch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8D5B3E69-A502-EF6B-090B-C19AAC68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3454C36B-FC45-508D-8F89-7EDB73F2E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61100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1B101-E137-09EE-8E2D-5A334321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8BCB9678-63A7-F024-3F0E-02FCB407C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 – Notebook to Classes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5F57F18-05C3-3B0B-1E80-FA665F1328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8965750"/>
              </p:ext>
            </p:extLst>
          </p:nvPr>
        </p:nvGraphicFramePr>
        <p:xfrm>
          <a:off x="457200" y="1370013"/>
          <a:ext cx="819150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111468379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871464850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682339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Replaces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31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TrainingConfig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settings, hard-coded maze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Holds every setting, 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10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DQNAgent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build_model, train_step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Network, optimizer, epsilon, save/load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571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Trainer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qtrain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Epoch loop, logging, stopping rule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30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Evaluator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play_game, completion_check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Plays game, returns data not True/False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20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MazeRenderer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Text board or saved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77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TreasureHuntCLI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manual notebook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Parses options, runs the three commands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831111"/>
                  </a:ext>
                </a:extLst>
              </a:tr>
            </a:tbl>
          </a:graphicData>
        </a:graphic>
      </p:graphicFrame>
      <p:sp>
        <p:nvSpPr>
          <p:cNvPr id="17" name="Slide Number">
            <a:extLst>
              <a:ext uri="{FF2B5EF4-FFF2-40B4-BE49-F238E27FC236}">
                <a16:creationId xmlns:a16="http://schemas.microsoft.com/office/drawing/2014/main" id="{8923B55B-43F4-0776-3C81-AB87DBB32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A047832B-3E87-2E2A-F1DF-7552699C9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36038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83E5B-8C76-90B1-E71E-CC9F160D6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DA6D11D3-02C7-A0CD-5448-F77334B1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 - One entry point, three commands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025CAA65-E8FE-40C7-BCB4-0DCA6C0DE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</a:t>
            </a:r>
          </a:p>
          <a:p>
            <a:pPr lvl="1"/>
            <a:r>
              <a:rPr lang="en-US" dirty="0"/>
              <a:t>Reads options, loads/validates maze, builds agent, runs epochs, save and print model results</a:t>
            </a:r>
          </a:p>
          <a:p>
            <a:r>
              <a:rPr lang="en-US" dirty="0"/>
              <a:t>evaluate</a:t>
            </a:r>
          </a:p>
          <a:p>
            <a:pPr lvl="1"/>
            <a:r>
              <a:rPr lang="en-US" dirty="0"/>
              <a:t>load saved model, validate size and maze size, play game from open cell, report any failures</a:t>
            </a:r>
          </a:p>
          <a:p>
            <a:r>
              <a:rPr lang="en-US" dirty="0"/>
              <a:t>play</a:t>
            </a:r>
          </a:p>
          <a:p>
            <a:pPr lvl="1"/>
            <a:r>
              <a:rPr lang="en-US" dirty="0"/>
              <a:t>loads saved model, play one game, print results and path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29641D54-1145-D0FE-BEA1-5677C42B1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EC90AA05-0F23-3B5C-9495-111DC90C095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141C154-BD60-D347-9151-584A819E510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117FE757-BF2B-A87C-C780-F0BCE6840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8406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A90A-8512-8C81-B241-9A372102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AA66FCB-6C54-6657-2DB0-BB2BFFF8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41FF80C6-6682-3305-9D78-05EEC2975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CS-410: SNHU Investments</a:t>
            </a:r>
          </a:p>
        </p:txBody>
      </p:sp>
    </p:spTree>
    <p:extLst>
      <p:ext uri="{BB962C8B-B14F-4D97-AF65-F5344CB8AC3E}">
        <p14:creationId xmlns:p14="http://schemas.microsoft.com/office/powerpoint/2010/main" val="498228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76FC-5D0B-6AAE-BAA6-89D35030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964F8316-0119-43D4-45C1-DFAA6A394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SNHU Investments 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1DAC2E1E-CE98-B8DD-8809-D771B98FA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console app</a:t>
            </a:r>
          </a:p>
          <a:p>
            <a:r>
              <a:rPr lang="en-US" dirty="0"/>
              <a:t>5 clients held in global variables</a:t>
            </a:r>
          </a:p>
          <a:p>
            <a:r>
              <a:rPr lang="en-US" dirty="0"/>
              <a:t>1 shared password</a:t>
            </a:r>
          </a:p>
          <a:p>
            <a:r>
              <a:rPr lang="en-US" dirty="0"/>
              <a:t>3 menu options: display, change, exit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User logs in then loops through a menu to view the client list or change a client’s service. Everything resets on program exit.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C4604C16-CAE8-5B0B-DFDD-582860353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D091FD90-AFDA-CD06-D0C4-DE77AFBE8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909248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19D60-9C47-BB84-85F2-E6DCBAE18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A9A9F28F-8364-734A-6FD6-F9E4D400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Starter Code Flow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99FD881D-42A6-CB35-1EDE-F9458E9DD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Greeting</a:t>
            </a:r>
          </a:p>
          <a:p>
            <a:r>
              <a:rPr lang="en-US" dirty="0"/>
              <a:t>Login</a:t>
            </a:r>
          </a:p>
          <a:p>
            <a:r>
              <a:rPr lang="en-US" dirty="0"/>
              <a:t>Menu Loop</a:t>
            </a:r>
          </a:p>
          <a:p>
            <a:pPr lvl="1"/>
            <a:r>
              <a:rPr lang="en-US" dirty="0"/>
              <a:t>Display Info</a:t>
            </a:r>
          </a:p>
          <a:p>
            <a:pPr lvl="1"/>
            <a:r>
              <a:rPr lang="en-US" dirty="0"/>
              <a:t>Change Customer Choice</a:t>
            </a:r>
          </a:p>
          <a:p>
            <a:r>
              <a:rPr lang="en-US" dirty="0"/>
              <a:t>Exit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6D2DA563-21FD-21E9-7933-DA53BF3A7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CBCFB1DA-CD5A-B880-E877-5F222265E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05542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A29E-C6AB-45CA-DBA4-E232CCC1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CD3B766C-8085-57AC-6CD4-C6EA0AAB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the Starter File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33894305-6571-8908-F5D4-DD762AB96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73051" y="1268016"/>
            <a:ext cx="3375329" cy="1890816"/>
          </a:xfrm>
        </p:spPr>
        <p:txBody>
          <a:bodyPr/>
          <a:lstStyle/>
          <a:p>
            <a:r>
              <a:rPr lang="en-US" dirty="0"/>
              <a:t>Global Data</a:t>
            </a:r>
          </a:p>
          <a:p>
            <a:pPr lvl="1"/>
            <a:r>
              <a:rPr lang="en-US" dirty="0"/>
              <a:t>name1 – name 5</a:t>
            </a:r>
          </a:p>
          <a:p>
            <a:pPr lvl="2"/>
            <a:r>
              <a:rPr lang="en-US" dirty="0"/>
              <a:t>ex. “John Doe”</a:t>
            </a:r>
          </a:p>
          <a:p>
            <a:pPr lvl="1"/>
            <a:r>
              <a:rPr lang="en-US" dirty="0"/>
              <a:t>num1 – num 5</a:t>
            </a:r>
          </a:p>
          <a:p>
            <a:pPr lvl="2"/>
            <a:r>
              <a:rPr lang="en-US" dirty="0"/>
              <a:t>ex 1 or 2 (for service choice)</a:t>
            </a:r>
          </a:p>
          <a:p>
            <a:pPr lvl="1"/>
            <a:r>
              <a:rPr lang="en-US" dirty="0"/>
              <a:t>storedPasswordHash</a:t>
            </a:r>
          </a:p>
          <a:p>
            <a:pPr lvl="2"/>
            <a:r>
              <a:rPr lang="en-US" dirty="0"/>
              <a:t>hash of 123</a:t>
            </a:r>
          </a:p>
          <a:p>
            <a:pPr lvl="1"/>
            <a:endParaRPr 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B09548E-FE3A-EA2B-2404-619BCC36E5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07706163"/>
              </p:ext>
            </p:extLst>
          </p:nvPr>
        </p:nvGraphicFramePr>
        <p:xfrm>
          <a:off x="457200" y="1268016"/>
          <a:ext cx="4630314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5157">
                  <a:extLst>
                    <a:ext uri="{9D8B030D-6E8A-4147-A177-3AD203B41FA5}">
                      <a16:colId xmlns:a16="http://schemas.microsoft.com/office/drawing/2014/main" val="108686616"/>
                    </a:ext>
                  </a:extLst>
                </a:gridCol>
                <a:gridCol w="2315157">
                  <a:extLst>
                    <a:ext uri="{9D8B030D-6E8A-4147-A177-3AD203B41FA5}">
                      <a16:colId xmlns:a16="http://schemas.microsoft.com/office/drawing/2014/main" val="3779709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387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greeting, login loop, menu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418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CheckUserPermissionAccess()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asks for credentials, compares hashes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6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GetMaskedPassword()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hides typed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888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HashPassword()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std::hash of password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71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GetValidatedMenuChoice()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re-prompts until integer is entered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99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DisplayInfo()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prints the five clients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9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ChangeCustomerChoice()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/ else chain updates num1…num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160586"/>
                  </a:ext>
                </a:extLst>
              </a:tr>
            </a:tbl>
          </a:graphicData>
        </a:graphic>
      </p:graphicFrame>
      <p:sp>
        <p:nvSpPr>
          <p:cNvPr id="17" name="Slide Number">
            <a:extLst>
              <a:ext uri="{FF2B5EF4-FFF2-40B4-BE49-F238E27FC236}">
                <a16:creationId xmlns:a16="http://schemas.microsoft.com/office/drawing/2014/main" id="{A7524E7C-B04C-A51E-349C-911C0A425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8850143B-E438-CD99-5C29-86FF4C668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699617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10C4-6407-DEC7-1278-BF27E77D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E322ACB8-522B-B9C1-BBB9-B515206C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Enhancements – Database Design</a:t>
            </a:r>
          </a:p>
        </p:txBody>
      </p:sp>
      <p:sp>
        <p:nvSpPr>
          <p:cNvPr id="14" name="Main Content">
            <a:extLst>
              <a:ext uri="{FF2B5EF4-FFF2-40B4-BE49-F238E27FC236}">
                <a16:creationId xmlns:a16="http://schemas.microsoft.com/office/drawing/2014/main" id="{A922A0BF-E883-93B6-41D7-264A78B66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clients</a:t>
            </a:r>
          </a:p>
          <a:p>
            <a:pPr lvl="1"/>
            <a:r>
              <a:rPr lang="en-US" dirty="0"/>
              <a:t>client_id, name, address, ZIP, phone, status, create_date, updated_at, service</a:t>
            </a:r>
          </a:p>
          <a:p>
            <a:r>
              <a:rPr lang="en-US" dirty="0"/>
              <a:t>users</a:t>
            </a:r>
          </a:p>
          <a:p>
            <a:pPr lvl="1"/>
            <a:r>
              <a:rPr lang="en-US" dirty="0"/>
              <a:t>user_id, username, salt, password_hash</a:t>
            </a:r>
          </a:p>
          <a:p>
            <a:r>
              <a:rPr lang="en-US" dirty="0"/>
              <a:t>accounts</a:t>
            </a:r>
          </a:p>
          <a:p>
            <a:pPr lvl="1"/>
            <a:r>
              <a:rPr lang="en-US" dirty="0"/>
              <a:t>account_id, client_id, amount, service</a:t>
            </a:r>
          </a:p>
          <a:p>
            <a:r>
              <a:rPr lang="en-US" dirty="0"/>
              <a:t>orders</a:t>
            </a:r>
          </a:p>
          <a:p>
            <a:pPr lvl="1"/>
            <a:r>
              <a:rPr lang="en-US" dirty="0"/>
              <a:t>order_id, client_id, order_date, status, total_amount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60203750-1289-686F-7AF6-A8A61100C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70B5ED53-C6F9-6251-B58B-3E76948B5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5426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A3D9565A-A7BC-62F5-2E78-352C94D8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 – CRUD and Reporting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B0C322-37C2-209A-7E24-C39B1EC9B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Display: Lists every client with its service</a:t>
            </a:r>
          </a:p>
          <a:p>
            <a:r>
              <a:rPr lang="en-US" dirty="0"/>
              <a:t>Add: Checks name, address, state, ZIP, phone, and service. Inserts row.</a:t>
            </a:r>
          </a:p>
          <a:p>
            <a:r>
              <a:rPr lang="en-US" dirty="0"/>
              <a:t>Change: Looks up client, shows current service, then updates row</a:t>
            </a:r>
          </a:p>
          <a:p>
            <a:r>
              <a:rPr lang="en-US" dirty="0"/>
              <a:t>Delete: Asks for Y to confirm, then removes the client, accounts, and orders together. </a:t>
            </a:r>
          </a:p>
          <a:p>
            <a:r>
              <a:rPr lang="en-US" dirty="0"/>
              <a:t>Report: Filters by service, part of a name, or all clients, with a row count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6BF32375-B009-6266-8648-4BEBBDD83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8190AE7F-1BCF-0F94-936E-0109470189F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A490AE9-31FB-6143-8D18-8CE47B9F4E9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9EFDDC9-116A-501E-4FCE-3012E95F5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99291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03CA-99C7-B722-4A8C-F7056315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Enhancements – New Program Flow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EC76E9-3A6B-6C76-E74C-72904D608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162" y="1255529"/>
            <a:ext cx="5453102" cy="35117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E5267-7E0D-D018-EA92-2F14F80BE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38FEDE-97C2-4C40-929C-DF79E793EBD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EA368-103B-7C9F-F47A-140965879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Proprietary and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440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DFDD10F-3141-E88D-DF60-C45574F3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105" y="3426143"/>
            <a:ext cx="2053216" cy="404178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5807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NHU 2022 Palette 1">
      <a:dk1>
        <a:srgbClr val="00244D"/>
      </a:dk1>
      <a:lt1>
        <a:srgbClr val="FFFFFF"/>
      </a:lt1>
      <a:dk2>
        <a:srgbClr val="064583"/>
      </a:dk2>
      <a:lt2>
        <a:srgbClr val="E7E6E6"/>
      </a:lt2>
      <a:accent1>
        <a:srgbClr val="00244D"/>
      </a:accent1>
      <a:accent2>
        <a:srgbClr val="064583"/>
      </a:accent2>
      <a:accent3>
        <a:srgbClr val="FEFFFF"/>
      </a:accent3>
      <a:accent4>
        <a:srgbClr val="FCB912"/>
      </a:accent4>
      <a:accent5>
        <a:srgbClr val="009CE9"/>
      </a:accent5>
      <a:accent6>
        <a:srgbClr val="FEFFFF"/>
      </a:accent6>
      <a:hlink>
        <a:srgbClr val="064583"/>
      </a:hlink>
      <a:folHlink>
        <a:srgbClr val="009CE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2528</TotalTime>
  <Words>1272</Words>
  <Application>Microsoft Office PowerPoint</Application>
  <PresentationFormat>On-screen Show (16:9)</PresentationFormat>
  <Paragraphs>255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CS-499 – Code Review</vt:lpstr>
      <vt:lpstr>Software Design and Engineering</vt:lpstr>
      <vt:lpstr>Overview: Travlr Getaways</vt:lpstr>
      <vt:lpstr>Starter Code Layout</vt:lpstr>
      <vt:lpstr>REST API</vt:lpstr>
      <vt:lpstr>Angular Admin</vt:lpstr>
      <vt:lpstr>Enhancement – Conversion to Astro</vt:lpstr>
      <vt:lpstr>Enhancement - Layout and Components</vt:lpstr>
      <vt:lpstr>Enhancement - Data Layer and Trip Page</vt:lpstr>
      <vt:lpstr>Data Structures and Algorithms</vt:lpstr>
      <vt:lpstr>Overview: AI Pathfinder</vt:lpstr>
      <vt:lpstr>Each epoch plays one game</vt:lpstr>
      <vt:lpstr>Enhancement – Structure with OOP</vt:lpstr>
      <vt:lpstr>Enhancement – Notebook to Classes</vt:lpstr>
      <vt:lpstr>Enhancement - One entry point, three commands</vt:lpstr>
      <vt:lpstr>Databases</vt:lpstr>
      <vt:lpstr>Overview: SNHU Investments </vt:lpstr>
      <vt:lpstr>Starter Code Flow</vt:lpstr>
      <vt:lpstr>Inside the Starter File</vt:lpstr>
      <vt:lpstr>Enhancements – Database Design</vt:lpstr>
      <vt:lpstr>Enhancement – CRUD and Reporting</vt:lpstr>
      <vt:lpstr>Enhancements – New Program Flow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SNHU PowerPoint Presentation</dc:title>
  <dc:creator>Arabudzki, Krysta</dc:creator>
  <cp:keywords>PowerPoint Template; Accessible; SNHU Brand</cp:keywords>
  <cp:lastModifiedBy>Antonio Diaz-Leyva</cp:lastModifiedBy>
  <cp:revision>48</cp:revision>
  <dcterms:created xsi:type="dcterms:W3CDTF">2022-08-01T02:25:01Z</dcterms:created>
  <dcterms:modified xsi:type="dcterms:W3CDTF">2026-10-18T00:34:33Z</dcterms:modified>
</cp:coreProperties>
</file>